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65760"/>
            <a:ext cx="475488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D4ED8"/>
                </a:solidFill>
                <a:latin typeface="Arial"/>
              </a:defRPr>
            </a:pPr>
            <a:r>
              <a:t>●  NETWORK INTRUSION DETECTION SYSTEM (NIDS)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0" y="3657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Arial"/>
              </a:defRPr>
            </a:pPr>
            <a:r>
              <a:t>PROJECT PRESENTATION • SLIDE 01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1691640"/>
            <a:ext cx="548640" cy="548640"/>
          </a:xfrm>
          <a:prstGeom prst="round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/>
            </a:pPr>
            <a:r>
              <a:t>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00200" y="178308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  <a:latin typeface="Arial"/>
              </a:defRPr>
            </a:pPr>
            <a:r>
              <a:t>END-TO-END APPLIED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600" b="1">
                <a:solidFill>
                  <a:srgbClr val="0F172A"/>
                </a:solidFill>
                <a:latin typeface="Arial"/>
              </a:defRPr>
            </a:pPr>
            <a:r>
              <a:t>NetSentry 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334155"/>
                </a:solidFill>
                <a:latin typeface="Arial"/>
              </a:defRPr>
            </a:pPr>
            <a:r>
              <a:t>Machine Learning-Based Network Intrusion Detection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4160520"/>
            <a:ext cx="1463040" cy="54864"/>
          </a:xfrm>
          <a:prstGeom prst="rect">
            <a:avLst/>
          </a:prstGeom>
          <a:solidFill>
            <a:srgbClr val="1D4ED8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475569"/>
                </a:solidFill>
                <a:latin typeface="Arial"/>
              </a:defRPr>
            </a:pPr>
            <a:r>
              <a:t>From Network Flow Classification to Production ML Serving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6309360"/>
            <a:ext cx="1036289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NETSENTRY v2 // ACADEMIC DEFENSE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t>PRESENTER: SUBHADIP KHAWAS • CIC-IDS2017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65760"/>
            <a:ext cx="475488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D4ED8"/>
                </a:solidFill>
                <a:latin typeface="Arial"/>
              </a:defRPr>
            </a:pPr>
            <a:r>
              <a:t>●  PROBLEM STATEMENT // THREAT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0" y="3657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Arial"/>
              </a:defRPr>
            </a:pPr>
            <a:r>
              <a:t>PROJECT PRESENTATION • SLIDE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32720" cy="5486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50">
                <a:solidFill>
                  <a:srgbClr val="475569"/>
                </a:solidFill>
                <a:latin typeface="Arial"/>
              </a:defRPr>
            </a:pPr>
            <a:r>
              <a:t>Modern networks generate massive volumes of high-speed traffic, making manual inspection and rule-based identification of malicious activity increasingly intractable.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11680"/>
            <a:ext cx="5852160" cy="33832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377440" y="2468880"/>
            <a:ext cx="2926080" cy="384048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50" b="1">
                <a:solidFill>
                  <a:srgbClr val="0F172A"/>
                </a:solidFill>
                <a:latin typeface="Arial"/>
              </a:defRPr>
            </a:pPr>
            <a:r>
              <a:t>⇅  High-Volume Network Traffic Streams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154680"/>
            <a:ext cx="2651760" cy="205740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065F46"/>
                </a:solidFill>
                <a:latin typeface="Arial"/>
              </a:defRPr>
            </a:pPr>
            <a:r>
              <a:t>●  BENIGN TRAFFIC</a:t>
            </a:r>
          </a:p>
          <a:p>
            <a:pPr>
              <a:defRPr sz="950">
                <a:solidFill>
                  <a:srgbClr val="065F46"/>
                </a:solidFill>
              </a:defRPr>
            </a:pPr>
            <a:r>
              <a:t>Legitimate user workflows, authorized communications, and regular protocol operations.</a:t>
            </a:r>
            <a:br/>
            <a:br/>
            <a:r>
              <a:t>Must Pass Uninterrupted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931920" y="3154680"/>
            <a:ext cx="2651760" cy="205740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991B1B"/>
                </a:solidFill>
                <a:latin typeface="Arial"/>
              </a:defRPr>
            </a:pPr>
            <a:r>
              <a:t>●  ATTACK TRAFFIC</a:t>
            </a:r>
          </a:p>
          <a:p>
            <a:pPr>
              <a:defRPr sz="950">
                <a:solidFill>
                  <a:srgbClr val="991B1B"/>
                </a:solidFill>
              </a:defRPr>
            </a:pPr>
            <a:r>
              <a:t>• DoS / DDoS        • PortScan</a:t>
            </a:r>
            <a:br/>
            <a:r>
              <a:t>• Brute Force       • Web Attacks</a:t>
            </a:r>
            <a:br/>
            <a:r>
              <a:t>• Infiltration         • Botnet</a:t>
            </a:r>
            <a:br/>
            <a:r>
              <a:t>• Heartbleed</a:t>
            </a:r>
            <a:br/>
            <a:br/>
            <a:r>
              <a:t>Requires Rapid Detection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040880" y="2011680"/>
            <a:ext cx="4206240" cy="338328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  <a:latin typeface="Arial"/>
              </a:defRPr>
            </a:pPr>
            <a:r>
              <a:t>📄  BENCHMARK CONTEXT: CIC-IDS2017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• 5 Days of Real-World Traffic: Monday-Friday captures covering diverse baselines.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• Authentic Attack Scenarios: DoS, DDoS, Web Attacks, Brute Force, Infiltration.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• 80+ Flow-Based Features: Extracted via CICFlowMeter (lengths, timing, flags).</a:t>
            </a:r>
          </a:p>
          <a:p>
            <a:pPr>
              <a:defRPr sz="1000">
                <a:solidFill>
                  <a:srgbClr val="475569"/>
                </a:solidFill>
                <a:latin typeface="Arial"/>
              </a:defRPr>
            </a:pPr>
            <a:r>
              <a:t>• Standardized Research Ground Truth: Labeled dataset specifically created for ML-NIDS.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5577840"/>
            <a:ext cx="10332720" cy="6858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CORE RESEARCH QUESTION: “Can machine learning accurately distinguish benign network flows from malicious network flows?”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6309360"/>
            <a:ext cx="1036289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NETSENTRY v2 // PROBLEM DEFINITION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t>SLIDE 02 • FLOW-BASED INTRUSION CHALLENGE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65760"/>
            <a:ext cx="475488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D4ED8"/>
                </a:solidFill>
                <a:latin typeface="Arial"/>
              </a:defRPr>
            </a:pPr>
            <a:r>
              <a:t>●  DATA ARCHITECTURE // FEATURE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0" y="3657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Arial"/>
              </a:defRPr>
            </a:pPr>
            <a:r>
              <a:t>PROJECT PRESENTATION • SLIDE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32720" cy="5486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CIC-IDS2017 Dataset &amp; Data Flow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10332720" cy="2011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82880"/>
          <a:lstStyle/>
          <a:p>
            <a:pPr algn="ctr">
              <a:defRPr sz="1000" b="1">
                <a:solidFill>
                  <a:srgbClr val="1D4ED8"/>
                </a:solidFill>
                <a:latin typeface="Arial"/>
              </a:defRPr>
            </a:pPr>
            <a:r>
              <a:t>END-TO-END FLOW EXTRACTION &amp; INFERENCE PIPELINE (LEFT-TO-RIGHT)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88720" y="2011680"/>
            <a:ext cx="21945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D4ED8"/>
                </a:solidFill>
              </a:defRPr>
            </a:pPr>
            <a:r>
              <a:t>STAGE 01</a:t>
            </a:r>
          </a:p>
          <a:p>
            <a:pPr algn="ctr">
              <a:defRPr sz="1000" b="1">
                <a:solidFill>
                  <a:srgbClr val="0F172A"/>
                </a:solidFill>
              </a:defRPr>
            </a:pPr>
            <a:r>
              <a:t>Raw Packet Traffic</a:t>
            </a:r>
            <a:br/>
            <a:r>
              <a:t>(PCAP Captures)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931920" y="2011680"/>
            <a:ext cx="21945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D4ED8"/>
                </a:solidFill>
              </a:defRPr>
            </a:pPr>
            <a:r>
              <a:t>STAGE 02</a:t>
            </a:r>
          </a:p>
          <a:p>
            <a:pPr algn="ctr">
              <a:defRPr sz="1000" b="1">
                <a:solidFill>
                  <a:srgbClr val="0F172A"/>
                </a:solidFill>
              </a:defRPr>
            </a:pPr>
            <a:r>
              <a:t>CICFlowMeter</a:t>
            </a:r>
            <a:br/>
            <a:r>
              <a:t>(Bidirectional Flows)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675120" y="2011680"/>
            <a:ext cx="21945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D4ED8"/>
                </a:solidFill>
              </a:defRPr>
            </a:pPr>
            <a:r>
              <a:t>STAGE 03</a:t>
            </a:r>
          </a:p>
          <a:p>
            <a:pPr algn="ctr">
              <a:defRPr sz="1000" b="1">
                <a:solidFill>
                  <a:srgbClr val="0F172A"/>
                </a:solidFill>
              </a:defRPr>
            </a:pPr>
            <a:r>
              <a:t>80+ Flow Features</a:t>
            </a:r>
            <a:br/>
            <a:r>
              <a:t>(Statistical Descriptors)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2011680"/>
            <a:ext cx="2194560" cy="10058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1D4ED8"/>
                </a:solidFill>
              </a:defRPr>
            </a:pPr>
            <a:r>
              <a:t>STAGE 04</a:t>
            </a:r>
          </a:p>
          <a:p>
            <a:pPr algn="ctr">
              <a:defRPr sz="1000" b="1">
                <a:solidFill>
                  <a:srgbClr val="0F172A"/>
                </a:solidFill>
              </a:defRPr>
            </a:pPr>
            <a:r>
              <a:t>NetSentry ML</a:t>
            </a:r>
            <a:br/>
            <a:r>
              <a:t>(BENIGN vs ATTACK)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3749039"/>
            <a:ext cx="502920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  <a:latin typeface="Arial"/>
              </a:defRPr>
            </a:pPr>
            <a:r>
              <a:t>DATASET AT A GLANCE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5 Days of Network Traffic: Full Monday-Friday captures.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Monday: Pure benign traffic used for baseline profiling.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Tuesday-Friday: Diverse attack scenarios + normal traffic.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80+ Flow Features: Duration, packet rates, byte sizes, flags.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Strictly consumes flow records — NOT raw byte packets.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749039"/>
            <a:ext cx="5029200" cy="22860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  <a:latin typeface="Arial"/>
              </a:defRPr>
            </a:pPr>
            <a:r>
              <a:t>REPRESENTATIVE ATTACK PROFILES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DoS / DDoS (Hulk, GoldenEye, Slowloris, Slowhttptest)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PortScan (Network probe &amp; enumeration reconnaissance)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Brute Force (FTP-Patator, SSH-Patator password guessing)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Web Attacks (SQL Injection, XSS, Brute Force)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Advanced Threats: Infiltration, Botnet (ARES), Heartbleed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14400" y="6309360"/>
            <a:ext cx="1036289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NETSENTRY v2 // DATASET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t>SLIDE 03 • FLOW GENERATION PIPELINE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65760"/>
            <a:ext cx="475488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D4ED8"/>
                </a:solidFill>
                <a:latin typeface="Arial"/>
              </a:defRPr>
            </a:pPr>
            <a:r>
              <a:t>●  MODELING ARCHITECTURE // CLASSIFICATION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0" y="3657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Arial"/>
              </a:defRPr>
            </a:pPr>
            <a:r>
              <a:t>PROJECT PRESENTATION • SLIDE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7086600" cy="5486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NetSentry: ML-Based Intrusion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777240"/>
            <a:ext cx="3017520" cy="73152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991B1B"/>
                </a:solidFill>
              </a:defRPr>
            </a:pPr>
            <a:r>
              <a:t>!  PRIMARY SECURITY OBJECTIVE</a:t>
            </a:r>
          </a:p>
          <a:p>
            <a:pPr>
              <a:defRPr sz="1100" b="1">
                <a:solidFill>
                  <a:srgbClr val="991B1B"/>
                </a:solidFill>
              </a:defRPr>
            </a:pPr>
            <a:r>
              <a:t>Maximize Recall (Zero Missed Attacks)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737360"/>
            <a:ext cx="1033272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82880"/>
          <a:lstStyle/>
          <a:p>
            <a:pPr algn="ctr">
              <a:defRPr sz="1000" b="1">
                <a:solidFill>
                  <a:srgbClr val="1D4ED8"/>
                </a:solidFill>
                <a:latin typeface="Arial"/>
              </a:defRPr>
            </a:pPr>
            <a:r>
              <a:t>MACHINE LEARNING WORKFLOW (LEFT-TO-RIGHT)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19456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D4ED8"/>
                </a:solidFill>
              </a:defRPr>
            </a:pPr>
            <a:r>
              <a:t>INPUT</a:t>
            </a:r>
          </a:p>
          <a:p>
            <a:pPr algn="ctr">
              <a:defRPr sz="1000" b="1">
                <a:solidFill>
                  <a:srgbClr val="0F172A"/>
                </a:solidFill>
              </a:defRPr>
            </a:pPr>
            <a:r>
              <a:t>CIC-IDS2017</a:t>
            </a:r>
            <a:br/>
            <a:r>
              <a:t>Flows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19456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D4ED8"/>
                </a:solidFill>
              </a:defRPr>
            </a:pPr>
            <a:r>
              <a:t>STAGE 01</a:t>
            </a:r>
          </a:p>
          <a:p>
            <a:pPr algn="ctr">
              <a:defRPr sz="1000" b="1">
                <a:solidFill>
                  <a:srgbClr val="0F172A"/>
                </a:solidFill>
              </a:defRPr>
            </a:pPr>
            <a:r>
              <a:t>Data</a:t>
            </a:r>
            <a:br/>
            <a:r>
              <a:t>Cleaning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0" y="219456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D4ED8"/>
                </a:solidFill>
              </a:defRPr>
            </a:pPr>
            <a:r>
              <a:t>STAGE 02</a:t>
            </a:r>
          </a:p>
          <a:p>
            <a:pPr algn="ctr">
              <a:defRPr sz="1000" b="1">
                <a:solidFill>
                  <a:srgbClr val="0F172A"/>
                </a:solidFill>
              </a:defRPr>
            </a:pPr>
            <a:r>
              <a:t>Feature</a:t>
            </a:r>
            <a:br/>
            <a:r>
              <a:t>Engineering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406640" y="219456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D4ED8"/>
                </a:solidFill>
              </a:defRPr>
            </a:pPr>
            <a:r>
              <a:t>STAGE 03</a:t>
            </a:r>
          </a:p>
          <a:p>
            <a:pPr algn="ctr">
              <a:defRPr sz="1000" b="1">
                <a:solidFill>
                  <a:srgbClr val="0F172A"/>
                </a:solidFill>
              </a:defRPr>
            </a:pPr>
            <a:r>
              <a:t>Train Candidate</a:t>
            </a:r>
            <a:br/>
            <a:r>
              <a:t>Models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509760" y="2194560"/>
            <a:ext cx="164592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50" b="1">
                <a:solidFill>
                  <a:srgbClr val="1D4ED8"/>
                </a:solidFill>
              </a:defRPr>
            </a:pPr>
            <a:r>
              <a:t>OUTPUT</a:t>
            </a:r>
          </a:p>
          <a:p>
            <a:pPr algn="ctr">
              <a:defRPr sz="1000" b="1">
                <a:solidFill>
                  <a:srgbClr val="0F172A"/>
                </a:solidFill>
              </a:defRPr>
            </a:pPr>
            <a:r>
              <a:t>BENIGN (0)</a:t>
            </a:r>
            <a:br/>
            <a:r>
              <a:t>ATTACK (1)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840480"/>
            <a:ext cx="6217920" cy="21945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  <a:latin typeface="Arial"/>
              </a:defRPr>
            </a:pPr>
            <a:r>
              <a:t>TRAIN ML MODELS • 5 CANDIDATE ARCHITECTURES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Gradient-Boosted Trees: XGBoost, LightGBM, CatBoost</a:t>
            </a:r>
            <a:br/>
            <a:r>
              <a:t>• Linear Classifier: Logistic Regression (StandardScaler)</a:t>
            </a:r>
            <a:br/>
            <a:r>
              <a:t>• Kernel Classifier: Support Vector Machine / SVM (RBF Kernel)</a:t>
            </a:r>
            <a:br/>
            <a:r>
              <a:t>• Identical Splits: All 5 candidates benchmarked on exact same validation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06640" y="3840480"/>
            <a:ext cx="384048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  <a:latin typeface="Arial"/>
              </a:defRPr>
            </a:pPr>
            <a:r>
              <a:t>MODEL REFINEMENT PATH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1. Best Baseline Selected on Validation Set</a:t>
            </a:r>
            <a:br/>
            <a:r>
              <a:t>2. Optuna Hyperparameter Optimization</a:t>
            </a:r>
            <a:br/>
            <a:r>
              <a:t>3. Final Refined Model Trained on Full Train Set</a:t>
            </a:r>
            <a:br/>
            <a:br/>
            <a:r>
              <a:t>Security Focus: Automatically identify malicious flows while minimizing missed attacks (False Negatives).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6309360"/>
            <a:ext cx="1036289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NETSENTRY v2 // MODELING ARCHITECTURE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t>SLIDE 04 • TRAINING &amp; EVALUATION PIPELINE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65760"/>
            <a:ext cx="475488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D4ED8"/>
                </a:solidFill>
                <a:latin typeface="Arial"/>
              </a:defRPr>
            </a:pPr>
            <a:r>
              <a:t>●  DATA PIPELINE // PREPROCESSING &amp; FEATURE EXTRACTION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0" y="3657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Arial"/>
              </a:defRPr>
            </a:pPr>
            <a:r>
              <a:t>PROJECT PRESENTATION • SLIDE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32720" cy="5486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Data Preprocessing &amp; Feature Engineering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10332720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tIns="182880"/>
          <a:lstStyle/>
          <a:p>
            <a:pPr algn="ctr">
              <a:defRPr sz="1000" b="1">
                <a:solidFill>
                  <a:srgbClr val="1D4ED8"/>
                </a:solidFill>
                <a:latin typeface="Arial"/>
              </a:defRPr>
            </a:pPr>
            <a:r>
              <a:t>TRANSFORMATION PIPELINE: RAW → CLEANED → MODEL-READY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011680"/>
            <a:ext cx="14630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Raw CSVs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26080" y="2011680"/>
            <a:ext cx="14630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Schema Strip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2011680"/>
            <a:ext cx="14630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Prune Dups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011680"/>
            <a:ext cx="14630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Inf/NaN Impute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2011680"/>
            <a:ext cx="14630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Target 0/1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49840" y="2011680"/>
            <a:ext cx="146304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0F172A"/>
                </a:solidFill>
              </a:defRPr>
            </a:pPr>
            <a:r>
              <a:t>Domain Ratios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657600"/>
            <a:ext cx="6583680" cy="237744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  <a:latin typeface="Arial"/>
              </a:defRPr>
            </a:pPr>
            <a:r>
              <a:t>SYNTHESIZED DOMAIN FEATURES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Fwd / Bwd Packet &amp; Byte Ratios (Flow asymmetry markers)</a:t>
            </a:r>
            <a:br/>
            <a:r>
              <a:t>• SYN-without-ACK Indicator (Identifies port scans &amp; SYN flood attempts)</a:t>
            </a:r>
            <a:br/>
            <a:r>
              <a:t>• RST Flag Density (Captures abrupt connection resets / teardowns)</a:t>
            </a:r>
            <a:br/>
            <a:r>
              <a:t>• Flow Packet Density (Number of packets per active duration unit)</a:t>
            </a:r>
            <a:br/>
            <a:r>
              <a:t>• Log Flow Duration (Log-transformed duration for variance stabilization)</a:t>
            </a:r>
            <a:br/>
            <a:r>
              <a:t>• Packet Payload Averages (Forward &amp; backward mean byte volumes)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3657600"/>
            <a:ext cx="3474720" cy="23774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1D4ED8"/>
                </a:solidFill>
                <a:latin typeface="Arial"/>
              </a:defRPr>
            </a:pPr>
            <a:r>
              <a:t>PIPELINE GUARANTEE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“Feature engineering is deterministic and applied consistently before model training and inference.”</a:t>
            </a:r>
            <a:br/>
            <a:br/>
            <a:r>
              <a:t>• Zero-Variance Columns Dropped (Bwd_PSH_Flags, Bwd_URG_Flags, Avg_Bytes_Bulk)</a:t>
            </a:r>
            <a:br/>
            <a:r>
              <a:t>• Eliminates Training-Serving Skew across offline batch and online inference.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6309360"/>
            <a:ext cx="1036289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NETSENTRY v2 // DATA ENGINEERING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t>SLIDE 05 • FEATURE EXTRACTION &amp; SANITIZATION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65760"/>
            <a:ext cx="475488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D4ED8"/>
                </a:solidFill>
                <a:latin typeface="Arial"/>
              </a:defRPr>
            </a:pPr>
            <a:r>
              <a:t>●  EXPERIMENTAL PROTOCOL // EVALUATION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0" y="3657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Arial"/>
              </a:defRPr>
            </a:pPr>
            <a:r>
              <a:t>PROJECT PRESENTATION • SLIDE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6903720" cy="5486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Data Splitting &amp; Evaluation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777240"/>
            <a:ext cx="3200400" cy="59436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5F46"/>
                </a:solidFill>
              </a:defRPr>
            </a:pPr>
            <a:r>
              <a:t>✔  Test data remains untouched until final evaluation.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645920"/>
            <a:ext cx="3291840" cy="320040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1D4ED8"/>
                </a:solidFill>
              </a:defRPr>
            </a:pPr>
            <a:r>
              <a:t>70% TRAIN SET (~1.75M Flows)</a:t>
            </a:r>
          </a:p>
          <a:p>
            <a:br/>
            <a:pPr>
              <a:defRPr sz="1000">
                <a:solidFill>
                  <a:srgbClr val="475569"/>
                </a:solidFill>
              </a:defRPr>
            </a:pPr>
            <a:r>
              <a:t>• Model Fitting &amp; Inductive Learning</a:t>
            </a:r>
            <a:br/>
            <a:r>
              <a:t>• Decision tree partitioning &amp; weights</a:t>
            </a:r>
            <a:br/>
            <a:r>
              <a:t>• Scale-invariant gradient boosting training</a:t>
            </a:r>
            <a:br/>
            <a:r>
              <a:t>• Dedicated solely to candidate fitting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1645920"/>
            <a:ext cx="3291840" cy="3200400"/>
          </a:xfrm>
          <a:prstGeom prst="roundRect">
            <a:avLst/>
          </a:prstGeom>
          <a:solidFill>
            <a:srgbClr val="FEF3C7"/>
          </a:solidFill>
          <a:ln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92400E"/>
                </a:solidFill>
              </a:defRPr>
            </a:pPr>
            <a:r>
              <a:t>15% VALIDATION SET (~375k Flows)</a:t>
            </a:r>
          </a:p>
          <a:p>
            <a:br/>
            <a:pPr>
              <a:defRPr sz="1000">
                <a:solidFill>
                  <a:srgbClr val="475569"/>
                </a:solidFill>
              </a:defRPr>
            </a:pPr>
            <a:r>
              <a:t>• Baseline Model Comparison &amp; Ranking</a:t>
            </a:r>
            <a:br/>
            <a:r>
              <a:t>• Optuna Hyperparameter Optimization</a:t>
            </a:r>
            <a:br/>
            <a:r>
              <a:t>• Decision Threshold (τ*) Calibration</a:t>
            </a:r>
            <a:br/>
            <a:r>
              <a:t>• Prevents test-set data leakage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0" y="1645920"/>
            <a:ext cx="3200400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15% TEST SET (~375k Flows)</a:t>
            </a:r>
          </a:p>
          <a:p>
            <a:br/>
            <a:pPr>
              <a:defRPr sz="1000">
                <a:solidFill>
                  <a:srgbClr val="CBD5E1"/>
                </a:solidFill>
              </a:defRPr>
            </a:pPr>
            <a:r>
              <a:t>• Final Unbiased Evaluation</a:t>
            </a:r>
            <a:br/>
            <a:r>
              <a:t>• Frozen Decision Threshold applied</a:t>
            </a:r>
            <a:br/>
            <a:r>
              <a:t>• Quality Gate Enforcement</a:t>
            </a:r>
            <a:br/>
            <a:r>
              <a:t>• Sealed during all training &amp; tuning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" y="5120640"/>
            <a:ext cx="10332720" cy="9144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50" b="1">
                <a:solidFill>
                  <a:srgbClr val="1D4ED8"/>
                </a:solidFill>
              </a:defRPr>
            </a:pPr>
            <a:r>
              <a:t>SECONDARY ROBUSTNESS EXPERIMENT: TEMPORAL / UNSEEN ATTACK-FAMILY GENERALIZATION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Tests whether the model can detect attack families unrepresented in training data (e.g. trained on early days, evaluated on novel Friday attacks). Primary benchmark remains the stratified 70/15/15 split.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6309360"/>
            <a:ext cx="1036289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NETSENTRY v2 // EVALUATION 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7512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t>SLIDE 06 • STRATIFIED DATA HYGIENE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65760"/>
            <a:ext cx="475488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D4ED8"/>
                </a:solidFill>
                <a:latin typeface="Arial"/>
              </a:defRPr>
            </a:pPr>
            <a:r>
              <a:t>●  MODEL BENCHMARKING // BASELINE SELECTION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0" y="3657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Arial"/>
              </a:defRPr>
            </a:pPr>
            <a:r>
              <a:t>PROJECT PRESENTATION • SLIDE 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10332720" cy="5486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Baseline Models &amp; Model Selection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463040"/>
            <a:ext cx="5029200" cy="45720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/>
          <a:lstStyle/>
          <a:p>
            <a:pPr algn="ctr">
              <a:defRPr sz="1000" b="1">
                <a:solidFill>
                  <a:srgbClr val="1D4ED8"/>
                </a:solidFill>
              </a:defRPr>
            </a:pPr>
            <a:r>
              <a:t>SELECTION WORKFLOW (VALIDATION SPLIT ONLY)</a:t>
            </a:r>
          </a:p>
          <a:p>
            <a:br/>
            <a:pPr>
              <a:defRPr sz="1050">
                <a:solidFill>
                  <a:srgbClr val="475569"/>
                </a:solidFill>
              </a:defRPr>
            </a:pPr>
            <a:r>
              <a:t>1. Model-Ready Features (Train Split)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2. Train 5 Candidate Architectures:</a:t>
            </a:r>
            <a:br/>
            <a:r>
              <a:t>   • XGBoost • LightGBM • CatBoost</a:t>
            </a:r>
            <a:br/>
            <a:r>
              <a:t>   • Logistic Regression • SVM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3. Validation Evaluation &amp; Comparative Ranking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4. Best Baseline Identified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5. Forwarded to Hyperparameter Optimization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02920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/>
          <a:lstStyle/>
          <a:p>
            <a:pPr algn="ctr">
              <a:defRPr sz="1000" b="1">
                <a:solidFill>
                  <a:srgbClr val="1D4ED8"/>
                </a:solidFill>
              </a:defRPr>
            </a:pPr>
            <a:r>
              <a:t>CANDIDATE MODEL FAMILIES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XGBoost: Gradient-boosted trees | Scale-invariant (None)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LightGBM: Gradient-boosted trees | Scale-invariant (None)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Logistic Regression: Linear classifier | StandardScaler required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SVM: Kernel classifier (RBF) | StandardScaler required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• CatBoost: Gradient-boosted trees | Scale-invariant (None)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4389120"/>
            <a:ext cx="5029200" cy="164592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50" b="1">
                <a:solidFill>
                  <a:srgbClr val="991B1B"/>
                </a:solidFill>
              </a:defRPr>
            </a:pPr>
            <a:r>
              <a:t>PRIMARY SELECTION METRIC: RECALL</a:t>
            </a:r>
          </a:p>
          <a:p>
            <a:pPr>
              <a:defRPr sz="1000">
                <a:solidFill>
                  <a:srgbClr val="991B1B"/>
                </a:solidFill>
              </a:defRPr>
            </a:pPr>
            <a:r>
              <a:t>Secondary Metrics: Precision • F1-Score • ROC-AUC • PR-AUC</a:t>
            </a:r>
            <a:br/>
            <a:br/>
            <a:r>
              <a:t>Security Rationale: False Negative = missed attack penetrating the backend → Recall prioritized above all.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6309360"/>
            <a:ext cx="1036289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NETSENTRY v2 // MODEL SELECTION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t>SLIDE 07 • BASELINE MODEL TAXONOMY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65760"/>
            <a:ext cx="475488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D4ED8"/>
                </a:solidFill>
                <a:latin typeface="Arial"/>
              </a:defRPr>
            </a:pPr>
            <a:r>
              <a:t>●  MODEL REFINEMENT // AUTOMATED TUNING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0" y="3657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Arial"/>
              </a:defRPr>
            </a:pPr>
            <a:r>
              <a:t>PROJECT PRESENTATION • SLIDE 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7086600" cy="5486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Hyperparameter Optimization with Optuna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777240"/>
            <a:ext cx="3017520" cy="59436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5F46"/>
                </a:solidFill>
              </a:defRPr>
            </a:pPr>
            <a:r>
              <a:t>✔  Test data untouched during HPO.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566928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/>
          <a:lstStyle/>
          <a:p>
            <a:pPr algn="ctr">
              <a:defRPr sz="1000" b="1">
                <a:solidFill>
                  <a:srgbClr val="1D4ED8"/>
                </a:solidFill>
              </a:defRPr>
            </a:pPr>
            <a:r>
              <a:t>OPTUNA BAYESIAN TRIAL EXECUTION LOOP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1. Best Baseline Model Selected from Stage 7</a:t>
            </a:r>
            <a:br/>
            <a:r>
              <a:t>2. Define Hyperparameter Search Space</a:t>
            </a:r>
            <a:br/>
            <a:r>
              <a:t>3. Optuna Search Loop:</a:t>
            </a:r>
            <a:br/>
            <a:r>
              <a:t>   • Trial 1 → Train → Val Recall</a:t>
            </a:r>
            <a:br/>
            <a:r>
              <a:t>   • Trial 2 → Train → Val Recall</a:t>
            </a:r>
            <a:br/>
            <a:r>
              <a:t>   • Trial 3 → Train → Val Recall</a:t>
            </a:r>
            <a:br/>
            <a:r>
              <a:t>   • ...</a:t>
            </a:r>
            <a:br/>
            <a:r>
              <a:t>   • Trial N → Train → Val Recall</a:t>
            </a:r>
            <a:br/>
            <a:r>
              <a:t>4. Compare All Trials → Select Best Parameters</a:t>
            </a:r>
            <a:br/>
            <a:r>
              <a:t>5. Fit Fresh Final Model on Full Train Split</a:t>
            </a:r>
            <a:br/>
            <a:br/>
            <a:r>
              <a:t>Prunes suboptimal trials early via TPE (Tree-structured Parzen Estimator).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0" y="1554480"/>
            <a:ext cx="438912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/>
          <a:lstStyle/>
          <a:p>
            <a:pPr algn="ctr">
              <a:defRPr sz="1000" b="1">
                <a:solidFill>
                  <a:srgbClr val="1D4ED8"/>
                </a:solidFill>
                <a:latin typeface="Arial"/>
              </a:defRPr>
            </a:pPr>
            <a:r>
              <a:t>SEARCH SPACE &amp; OBJECTIVE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Search Space Parameters (XGBoost Example):</a:t>
            </a:r>
            <a:br/>
            <a:r>
              <a:t>• learning_rate (Step size shrinkage)</a:t>
            </a:r>
            <a:br/>
            <a:r>
              <a:t>• max_depth (Tree complexity / depth)</a:t>
            </a:r>
            <a:br/>
            <a:r>
              <a:t>• n_estimators (Number of boosting rounds)</a:t>
            </a:r>
            <a:br/>
            <a:r>
              <a:t>• subsample (Row subsampling ratio)</a:t>
            </a:r>
            <a:br/>
            <a:r>
              <a:t>• colsample_bytree (Feature subsampling ratio)</a:t>
            </a:r>
            <a:br/>
            <a:br/>
            <a:r>
              <a:t>Optimization Objective:</a:t>
            </a:r>
            <a:br/>
            <a:r>
              <a:t>• Maximize Validation Recall</a:t>
            </a:r>
            <a:br/>
            <a:r>
              <a:t>• ROC-AUC, Precision, and F1 tracked concurrently</a:t>
            </a:r>
            <a:br/>
            <a:r>
              <a:t>• Only the single best baseline is tuned.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6309360"/>
            <a:ext cx="1036289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NETSENTRY v2 // MODEL REFINEMENT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t>SLIDE 08 • BAYESIAN HYPERPARAMETER OPTIMIZATION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65760"/>
            <a:ext cx="475488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D4ED8"/>
                </a:solidFill>
                <a:latin typeface="Arial"/>
              </a:defRPr>
            </a:pPr>
            <a:r>
              <a:t>●  DECISION CALIBRATION // QUALITY ENFORCEMENT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0" y="3657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Arial"/>
              </a:defRPr>
            </a:pPr>
            <a:r>
              <a:t>PROJECT PRESENTATION • SLIDE 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6903720" cy="5486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Threshold Optimization &amp; Quality Gates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777240"/>
            <a:ext cx="3200400" cy="594360"/>
          </a:xfrm>
          <a:prstGeom prst="roundRect">
            <a:avLst/>
          </a:prstGeom>
          <a:solidFill>
            <a:srgbClr val="ECFDF5"/>
          </a:solidFill>
          <a:ln>
            <a:solidFill>
              <a:srgbClr val="A7F3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065F46"/>
                </a:solidFill>
              </a:defRPr>
            </a:pPr>
            <a:r>
              <a:t>✔  Threshold selected on validation data only.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512064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/>
          <a:lstStyle/>
          <a:p>
            <a:pPr algn="ctr">
              <a:defRPr sz="1000" b="1">
                <a:solidFill>
                  <a:srgbClr val="1D4ED8"/>
                </a:solidFill>
              </a:defRPr>
            </a:pPr>
            <a:r>
              <a:t>THRESHOLD LIFECYCLE PIPELINE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1. Final Tuned Model generates Validation Probabilities</a:t>
            </a:r>
            <a:br/>
            <a:r>
              <a:t>2. Optimize Decision Threshold (Default 0.50 ≠ Optimal)</a:t>
            </a:r>
            <a:br/>
            <a:r>
              <a:t>3. Calibrate τ* to prioritize high Attack Recall</a:t>
            </a:r>
            <a:br/>
            <a:r>
              <a:t>4. Freeze Best Threshold τ*</a:t>
            </a:r>
            <a:br/>
            <a:r>
              <a:t>5. Apply Frozen τ* to Untouched Test Data</a:t>
            </a:r>
            <a:br/>
            <a:r>
              <a:t>6. Evaluate Final Test Metrics against Quality Gates</a:t>
            </a:r>
            <a:br/>
            <a:r>
              <a:t>7. Quality Gates: PASS → Registry | FAIL → Reject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4937760" cy="44805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/>
          <a:lstStyle/>
          <a:p>
            <a:pPr algn="ctr">
              <a:defRPr sz="1000" b="1">
                <a:solidFill>
                  <a:srgbClr val="1D4ED8"/>
                </a:solidFill>
              </a:defRPr>
            </a:pPr>
            <a:r>
              <a:t>CONFIGURED PRODUCTION QUALITY GATES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• Recall ≥ 0.90 (Primary Gate)</a:t>
            </a:r>
            <a:br/>
            <a:r>
              <a:t>• F1-Score ≥ 0.85</a:t>
            </a:r>
            <a:br/>
            <a:r>
              <a:t>• ROC-AUC ≥ 0.90</a:t>
            </a:r>
            <a:br/>
            <a:r>
              <a:t>• p95 Latency ≤ 20 ms</a:t>
            </a:r>
            <a:br/>
            <a:br/>
            <a:r>
              <a:t>Evaluation Metrics Suite:</a:t>
            </a:r>
            <a:br/>
            <a:r>
              <a:t>Recall • Precision • F1 • ROC-AUC • PR-AUC • FPR • FNR • Latency</a:t>
            </a:r>
            <a:br/>
            <a:br/>
            <a:r>
              <a:t>Security Impact:</a:t>
            </a:r>
            <a:br/>
            <a:r>
              <a:t>False Negative = missed attack penetrating backend defenses → Recall is the critical gate.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6309360"/>
            <a:ext cx="1036289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NETSENTRY v2 // DECISION QUALITY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t>SLIDE 09 • THRESHOLD CALIBRATION &amp; QUALITY GATES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65760"/>
            <a:ext cx="475488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D4ED8"/>
                </a:solidFill>
                <a:latin typeface="Arial"/>
              </a:defRPr>
            </a:pPr>
            <a:r>
              <a:t>●  MODEL GOVERNANCE // PRODUCTION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0" y="3657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Arial"/>
              </a:defRPr>
            </a:pPr>
            <a:r>
              <a:t>PROJECT PRESENTATION • SLIDE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6903720" cy="5486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MLflow Model Registry &amp; Champion–Challenger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777240"/>
            <a:ext cx="3200400" cy="5943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D4ED8"/>
                </a:solidFill>
              </a:defRPr>
            </a:pPr>
            <a:r>
              <a:t>Production resolves @champion alias.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548640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/>
          <a:lstStyle/>
          <a:p>
            <a:pPr algn="ctr">
              <a:defRPr sz="1000" b="1">
                <a:solidFill>
                  <a:srgbClr val="1D4ED8"/>
                </a:solidFill>
              </a:defRPr>
            </a:pPr>
            <a:r>
              <a:t>REGISTRY LIFECYCLE &amp; PROMOTION WORKFLOW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1. Final Validated Model registered to MLflow</a:t>
            </a:r>
            <a:br/>
            <a:r>
              <a:t>2. Model Registry: NetSentry</a:t>
            </a:r>
            <a:br/>
            <a:r>
              <a:t>   • v1 → tagged @champion (Active serving)</a:t>
            </a:r>
            <a:br/>
            <a:r>
              <a:t>   • v2 → tagged @challenger (New candidate)</a:t>
            </a:r>
            <a:br/>
            <a:r>
              <a:t>3. Compare on Same Evaluation Protocol</a:t>
            </a:r>
            <a:br/>
            <a:r>
              <a:t>4. Decision Branch:</a:t>
            </a:r>
            <a:br/>
            <a:r>
              <a:t>   • Challenger Wins → @champion reassigned to v2</a:t>
            </a:r>
            <a:br/>
            <a:r>
              <a:t>   • Challenger Loses → @champion remains v1</a:t>
            </a:r>
            <a:br/>
            <a:br/>
            <a:r>
              <a:t>Uses modern MLflow Aliases — legacy Staging/Production deprecated.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675120" y="1554480"/>
            <a:ext cx="4572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/>
          <a:lstStyle/>
          <a:p>
            <a:pPr algn="ctr">
              <a:defRPr sz="1000" b="1">
                <a:solidFill>
                  <a:srgbClr val="1D4ED8"/>
                </a:solidFill>
              </a:defRPr>
            </a:pPr>
            <a:r>
              <a:t>GOVERNANCE CAPABILITIES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IMMUTABLE VERSIONING:</a:t>
            </a:r>
            <a:br/>
            <a:r>
              <a:t>• Sealed model artifacts upon registration</a:t>
            </a:r>
            <a:br/>
            <a:r>
              <a:t>• Full lineage: code commit, parameters, dataset split</a:t>
            </a:r>
            <a:br/>
            <a:br/>
            <a:r>
              <a:t>OPERATIONAL ALIASES:</a:t>
            </a:r>
            <a:br/>
            <a:r>
              <a:t>• @champion = production serving model</a:t>
            </a:r>
            <a:br/>
            <a:r>
              <a:t>• @challenger = vetted candidate undergoing verification</a:t>
            </a:r>
            <a:br/>
            <a:br/>
            <a:r>
              <a:t>METADATA GOVERNANCE:</a:t>
            </a:r>
            <a:br/>
            <a:r>
              <a:t>• Metrics, parameters, and pass/fail gate status</a:t>
            </a:r>
            <a:br/>
            <a:r>
              <a:t>• Every registered version retains its own decision threshold τ*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6309360"/>
            <a:ext cx="1036289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NETSENTRY v2 // MODEL REGISTRY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t>SLIDE 10 • CHAMPION-CHALLENGER ARCHITECTURE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65760"/>
            <a:ext cx="475488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D4ED8"/>
                </a:solidFill>
                <a:latin typeface="Arial"/>
              </a:defRPr>
            </a:pPr>
            <a:r>
              <a:t>●  MODEL SERVING // REAL-TIME INFERENCE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0" y="3657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Arial"/>
              </a:defRPr>
            </a:pPr>
            <a:r>
              <a:t>PROJECT PRESENTATION • SLIDE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6629400" cy="5486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FastAPI Real-Time Intrusion Detection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777240"/>
            <a:ext cx="3474720" cy="59436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D4ED8"/>
                </a:solidFill>
              </a:defRPr>
            </a:pPr>
            <a:r>
              <a:t>Model + threshold from SAME version.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512064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/>
          <a:lstStyle/>
          <a:p>
            <a:pPr algn="ctr">
              <a:defRPr sz="1000" b="1">
                <a:solidFill>
                  <a:srgbClr val="1D4ED8"/>
                </a:solidFill>
              </a:defRPr>
            </a:pPr>
            <a:r>
              <a:t>REAL-TIME SERVING FLOW</a:t>
            </a:r>
          </a:p>
          <a:p>
            <a:pPr>
              <a:defRPr sz="1050">
                <a:solidFill>
                  <a:srgbClr val="475569"/>
                </a:solidFill>
              </a:defRPr>
            </a:pPr>
            <a:r>
              <a:t>1. Ingress Network Flow Features</a:t>
            </a:r>
            <a:br/>
            <a:r>
              <a:t>2. FastAPI POST /predict</a:t>
            </a:r>
            <a:br/>
            <a:r>
              <a:t>3. Pydantic Request Validation</a:t>
            </a:r>
            <a:br/>
            <a:r>
              <a:t>4. Dynamic @champion Resolution</a:t>
            </a:r>
            <a:br/>
            <a:r>
              <a:t>5. In-Memory Predictor Cache (Model + Frozen τ*)</a:t>
            </a:r>
            <a:br/>
            <a:r>
              <a:t>6. ML Threat Scoring (P &gt;= τ*)</a:t>
            </a:r>
            <a:br/>
            <a:r>
              <a:t>7. Output Branches:</a:t>
            </a:r>
            <a:br/>
            <a:r>
              <a:t>   • BENIGN (0) → HTTP 200 Response</a:t>
            </a:r>
            <a:br/>
            <a:r>
              <a:t>   • ATTACK (1) → Security Alert / Log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9360" y="1554480"/>
            <a:ext cx="493776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/>
          <a:lstStyle/>
          <a:p>
            <a:pPr algn="ctr">
              <a:defRPr sz="1000" b="1">
                <a:solidFill>
                  <a:srgbClr val="1D4ED8"/>
                </a:solidFill>
              </a:defRPr>
            </a:pPr>
            <a:r>
              <a:t>SERVING DESIGN PILLARS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MODEL LOADING:</a:t>
            </a:r>
            <a:br/>
            <a:r>
              <a:t>• Resolves @champion from MLflow Registry</a:t>
            </a:r>
            <a:br/>
            <a:r>
              <a:t>• Loads model into RAM once at startup</a:t>
            </a:r>
            <a:br/>
            <a:r>
              <a:t>• Atomic Pairing: retrieves threshold for same version</a:t>
            </a:r>
            <a:br/>
            <a:br/>
            <a:r>
              <a:t>PREDICTION PIPELINE:</a:t>
            </a:r>
            <a:br/>
            <a:r>
              <a:t>• Validates incoming flow feature attributes</a:t>
            </a:r>
            <a:br/>
            <a:r>
              <a:t>• Applies frozen decision threshold τ* to probability</a:t>
            </a:r>
            <a:br/>
            <a:br/>
            <a:r>
              <a:t>API &amp; OBSERVABILITY:</a:t>
            </a:r>
            <a:br/>
            <a:r>
              <a:t>• /health &amp; /predict endpoints</a:t>
            </a:r>
            <a:br/>
            <a:r>
              <a:t>• Interactive Swagger/OpenAPI documentation</a:t>
            </a:r>
            <a:br/>
            <a:r>
              <a:t>• Monitored p95 inference latency (≤ 20 ms)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6309360"/>
            <a:ext cx="1036289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NETSENTRY v2 // REAL-TIME SERVING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t>SLIDE 11 • FASTAPI INFERENCE ARCHITECTURE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365760"/>
            <a:ext cx="4754880" cy="320040"/>
          </a:xfrm>
          <a:prstGeom prst="roundRect">
            <a:avLst/>
          </a:prstGeom>
          <a:solidFill>
            <a:srgbClr val="EFF6FF"/>
          </a:solidFill>
          <a:ln>
            <a:solidFill>
              <a:srgbClr val="BFDB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1D4ED8"/>
                </a:solidFill>
                <a:latin typeface="Arial"/>
              </a:defRPr>
            </a:pPr>
            <a:r>
              <a:t>●  SYSTEM ARCHITECTURE // COMPLETE END-TO-END BLUEPRINT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75120" y="36576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 b="1">
                <a:solidFill>
                  <a:srgbClr val="94A3B8"/>
                </a:solidFill>
                <a:latin typeface="Arial"/>
              </a:defRPr>
            </a:pPr>
            <a:r>
              <a:t>PROJECT PRESENTATION • SLIDE 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777240"/>
            <a:ext cx="6629400" cy="548640"/>
          </a:xfrm>
          <a:prstGeom prst="rect">
            <a:avLst/>
          </a:prstGeom>
          <a:noFill/>
        </p:spPr>
        <p:txBody>
          <a:bodyPr wrap="square"/>
          <a:lstStyle/>
          <a:p>
            <a:pPr>
              <a:defRPr sz="2300" b="1">
                <a:solidFill>
                  <a:srgbClr val="0F172A"/>
                </a:solidFill>
                <a:latin typeface="Arial"/>
              </a:defRPr>
            </a:pPr>
            <a:r>
              <a:t>NetSentry v2 — End-to-End ML Architecture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777240"/>
            <a:ext cx="3474720" cy="59436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50" b="1">
                <a:solidFill>
                  <a:srgbClr val="FFFFFF"/>
                </a:solidFill>
              </a:defRPr>
            </a:pPr>
            <a:r>
              <a:t>LIVE DEMO: Flow → /predict → BENIGN / ATTACK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554480"/>
            <a:ext cx="6858000" cy="44805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/>
          <a:lstStyle/>
          <a:p>
            <a:pPr algn="ctr">
              <a:defRPr sz="1000" b="1">
                <a:solidFill>
                  <a:srgbClr val="1D4ED8"/>
                </a:solidFill>
              </a:defRPr>
            </a:pPr>
            <a:r>
              <a:t>13-STAGE END-TO-END MLOPS EXECUTION CHAIN</a:t>
            </a:r>
          </a:p>
          <a:p>
            <a:pPr>
              <a:defRPr sz="1000">
                <a:solidFill>
                  <a:srgbClr val="475569"/>
                </a:solidFill>
              </a:defRPr>
            </a:pPr>
            <a:r>
              <a:t>DATA ENGINEERING:</a:t>
            </a:r>
            <a:br/>
            <a:r>
              <a:t>CIC-IDS2017 Flow CSVs → Ingestion → Cleaning → Domain Feats → 70/15/15 Split</a:t>
            </a:r>
            <a:br/>
            <a:br/>
            <a:r>
              <a:t>MODEL ENGINEERING:</a:t>
            </a:r>
            <a:br/>
            <a:r>
              <a:t>Baseline Benchmark (5 Models) → Optuna HPO → Threshold τ* → Quality Gates</a:t>
            </a:r>
            <a:br/>
            <a:br/>
            <a:r>
              <a:t>GOVERNANCE &amp; SERVING:</a:t>
            </a:r>
            <a:br/>
            <a:r>
              <a:t>MLflow Registry → @champion Alias → FastAPI Serving → BENIGN / ATTACK</a:t>
            </a:r>
            <a:br/>
            <a:br/>
            <a:r>
              <a:t>CONTINUOUS MLOPS FEEDBACK LOOP:</a:t>
            </a:r>
            <a:br/>
            <a:r>
              <a:t>New Model → Validate → @challenger → Compare on Protocol → Promote if Better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554480"/>
            <a:ext cx="32004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274320"/>
          <a:lstStyle/>
          <a:p>
            <a:pPr algn="ctr">
              <a:defRPr sz="1000" b="1">
                <a:solidFill>
                  <a:srgbClr val="1D4ED8"/>
                </a:solidFill>
              </a:defRPr>
            </a:pPr>
            <a:r>
              <a:t>WHAT NETSENTRY DELIVERS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✔ Automated flow classification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✔ Recall-focused evaluation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✔ Reproducible experiments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✔ Versioned model lifecycle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✔ Champion-Challenger promotion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✔ Real-time API inference</a:t>
            </a:r>
          </a:p>
          <a:p>
            <a:pPr>
              <a:defRPr sz="950">
                <a:solidFill>
                  <a:srgbClr val="475569"/>
                </a:solidFill>
              </a:defRPr>
            </a:pPr>
            <a:r>
              <a:t>✔ Version-matched threshold</a:t>
            </a:r>
          </a:p>
          <a:p>
            <a:br/>
            <a:pPr>
              <a:defRPr sz="950">
                <a:solidFill>
                  <a:srgbClr val="475569"/>
                </a:solidFill>
              </a:defRPr>
            </a:pPr>
            <a:r>
              <a:t>Core Principle:</a:t>
            </a:r>
            <a:br/>
            <a:r>
              <a:t>From raw network flows → validated ML model → controlled production inference.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6309360"/>
            <a:ext cx="10362895" cy="18288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6355080"/>
            <a:ext cx="5486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4A3B8"/>
                </a:solidFill>
                <a:latin typeface="Arial"/>
              </a:defRPr>
            </a:pPr>
            <a:r>
              <a:t>NETSENTRY v2 // END-TO-END SYSTEM SUMMARY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6355080"/>
            <a:ext cx="45720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 b="1">
                <a:solidFill>
                  <a:srgbClr val="94A3B8"/>
                </a:solidFill>
                <a:latin typeface="Arial"/>
              </a:defRPr>
            </a:pPr>
            <a:r>
              <a:t>SLIDE 12 • COMPREHENSIVE ARCHITECTURE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